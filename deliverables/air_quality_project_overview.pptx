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412c7850a24d78" /><Relationship Type="http://schemas.openxmlformats.org/officeDocument/2006/relationships/extended-properties" Target="/docProps/app.xml" Id="R9140584d3c634668" /><Relationship Type="http://schemas.openxmlformats.org/officeDocument/2006/relationships/officeDocument" Target="/ppt/presentation.xml" Id="Rbd02ea1f49554e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be144a075480e"/>
  </p:sldMasterIdLst>
  <p:notesMasterIdLst>
    <p:notesMasterId xmlns:r="http://schemas.openxmlformats.org/officeDocument/2006/relationships" r:id="R3ab102b85b2c4c47"/>
  </p:notesMasterIdLst>
  <p:sldIdLst>
    <p:sldId xmlns:r="http://schemas.openxmlformats.org/officeDocument/2006/relationships" id="256" r:id="R931707c3583745d2"/>
    <p:sldId xmlns:r="http://schemas.openxmlformats.org/officeDocument/2006/relationships" id="257" r:id="Rb278edbaa5874d96"/>
    <p:sldId xmlns:r="http://schemas.openxmlformats.org/officeDocument/2006/relationships" id="258" r:id="R70d7dbccbde04634"/>
    <p:sldId xmlns:r="http://schemas.openxmlformats.org/officeDocument/2006/relationships" id="259" r:id="R15458514b7564ee8"/>
    <p:sldId xmlns:r="http://schemas.openxmlformats.org/officeDocument/2006/relationships" id="260" r:id="R5e1d115a3c124bfb"/>
    <p:sldId xmlns:r="http://schemas.openxmlformats.org/officeDocument/2006/relationships" id="261" r:id="R9ced4e28a87247db"/>
    <p:sldId xmlns:r="http://schemas.openxmlformats.org/officeDocument/2006/relationships" id="262" r:id="Raa147d9f46784e81"/>
    <p:sldId xmlns:r="http://schemas.openxmlformats.org/officeDocument/2006/relationships" id="263" r:id="Ra9eb0043a27a47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b9a3afd3464cef" /><Relationship Type="http://schemas.openxmlformats.org/officeDocument/2006/relationships/slideMaster" Target="/ppt/slideMasters/slideMaster1.xml" Id="R1f2be144a075480e" /><Relationship Type="http://schemas.openxmlformats.org/officeDocument/2006/relationships/notesMaster" Target="/ppt/notesMasters/notesMaster1.xml" Id="R3ab102b85b2c4c47" /><Relationship Type="http://schemas.openxmlformats.org/officeDocument/2006/relationships/presProps" Target="/ppt/presProps.xml" Id="R231225d62cac4c72" /><Relationship Type="http://schemas.openxmlformats.org/officeDocument/2006/relationships/tableStyles" Target="/ppt/tableStyles.xml" Id="R97b6c7025637424d" /><Relationship Type="http://schemas.openxmlformats.org/officeDocument/2006/relationships/slide" Target="/ppt/slides/slide1.xml" Id="R931707c3583745d2" /><Relationship Type="http://schemas.openxmlformats.org/officeDocument/2006/relationships/slide" Target="/ppt/slides/slide2.xml" Id="Rb278edbaa5874d96" /><Relationship Type="http://schemas.openxmlformats.org/officeDocument/2006/relationships/slide" Target="/ppt/slides/slide3.xml" Id="R70d7dbccbde04634" /><Relationship Type="http://schemas.openxmlformats.org/officeDocument/2006/relationships/slide" Target="/ppt/slides/slide4.xml" Id="R15458514b7564ee8" /><Relationship Type="http://schemas.openxmlformats.org/officeDocument/2006/relationships/slide" Target="/ppt/slides/slide5.xml" Id="R5e1d115a3c124bfb" /><Relationship Type="http://schemas.openxmlformats.org/officeDocument/2006/relationships/slide" Target="/ppt/slides/slide6.xml" Id="R9ced4e28a87247db" /><Relationship Type="http://schemas.openxmlformats.org/officeDocument/2006/relationships/slide" Target="/ppt/slides/slide7.xml" Id="Raa147d9f46784e81" /><Relationship Type="http://schemas.openxmlformats.org/officeDocument/2006/relationships/slide" Target="/ppt/slides/slide8.xml" Id="Ra9eb0043a27a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e9e5522e34a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73b8351acc48a0" /><Relationship Type="http://schemas.openxmlformats.org/officeDocument/2006/relationships/notesMaster" Target="/ppt/notesMasters/notesMaster1.xml" Id="Rb126671fe010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f04eef2bc4cc8" /><Relationship Type="http://schemas.openxmlformats.org/officeDocument/2006/relationships/notesMaster" Target="/ppt/notesMasters/notesMaster1.xml" Id="R2fe31bc9e7ff4c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f3da14999e4312" /><Relationship Type="http://schemas.openxmlformats.org/officeDocument/2006/relationships/notesMaster" Target="/ppt/notesMasters/notesMaster1.xml" Id="R946564d3c12944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18e42184644c3f" /><Relationship Type="http://schemas.openxmlformats.org/officeDocument/2006/relationships/notesMaster" Target="/ppt/notesMasters/notesMaster1.xml" Id="R7891a6e328d34e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600243188f4685" /><Relationship Type="http://schemas.openxmlformats.org/officeDocument/2006/relationships/notesMaster" Target="/ppt/notesMasters/notesMaster1.xml" Id="Recf79307e58341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25564290104621" /><Relationship Type="http://schemas.openxmlformats.org/officeDocument/2006/relationships/notesMaster" Target="/ppt/notesMasters/notesMaster1.xml" Id="R87916479349948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6773e347224d7b" /><Relationship Type="http://schemas.openxmlformats.org/officeDocument/2006/relationships/notesMaster" Target="/ppt/notesMasters/notesMaster1.xml" Id="Rf1e69a4cfc0c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0344f9424540e1" /><Relationship Type="http://schemas.openxmlformats.org/officeDocument/2006/relationships/notesMaster" Target="/ppt/notesMasters/notesMaster1.xml" Id="Rd77676cea78b49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of the current project. The AQI and pollutant values on this cover are illustrative dashboard-style graphics, not a live reading. Project implementation details are documented in air_quality_project/README.md.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problem without claiming national health statistics. The project aims to make location-based air-quality information and context easier to explore. Sources: README.md sections “Dashboard” and “How the live prediction pipeline works”; data source and limitations are described there.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Air Quality &amp; Forecast tab uses Open-Meteo geocoding and atmospheric-model pollutant estimates, then applies the locally trained model. The app also provides history, India map/compare, crop-burning analysis, data status, and an optional Claude-powered assistant. The assistant requires an Anthropic API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from outputs/model_evaluation.json: chronological holdout on the final 20% of dates; 5,888 test rows, training dates through 2019-11-07 and test from 2019-11-08. MAE 19.87, R² 0.859, CPCB category accuracy 0.734. Results vary by city and AQI band; present these as project evaluation, not a guarantee of real-world forecast accuracy. Inputs are PM2.5, PM10, NO2, SO2, O3, CO. Training source: city_day.csv, 26 cities, 2015–2020. The 2022–2025 file has AQI only and is not eligible for pollutant-to-AQI model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list verified against requirements.txt, README.md, and project modules. The local database implementation is SQLite-only today; no PostgreSQL backend or independent scheduled collector exists yet. Anthropic is optional and needed only for the AQI Assistant tab.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dashboard has six tabs: Live Air Quality &amp; Forecast; Crop Burning Season Impact; City History Explorer; India Map &amp; Compare; Data Sources &amp; Status; AQI Assistant. README.md documents these behaviors and that the assistant needs an Anthropic API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database.py and README.md. The SQLite database stores bundled historical imports, live pollutant estimates, forecast snapshots, optional official-monitor readings and model metadata. Predictions are not training labels. The scheduled collector and PostgreSQL deployment architecture are planned work; keeping the dashboard deployed alone does not cause periodic collection. Open-Meteo CO is converted from µg/m³ to mg/m³ to match the training feature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with a roadmap that matches README.md: SQLite-only today; no independent collector or PostgreSQL support yet. A production unattended collection setup requires database abstraction/migration, a scheduled worker, a tracked-location schedule and secrets management. Keep predictions out of training; only verified observations with valid AQI labels are eligible. The AQI assistant provides general information, not medical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592b36a4f4d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56b2c69db4b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e13a078634c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d7ffcf09d42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a91e8cc944d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95a52250a48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91EC5D-75ED-4A40-A510-C61458BCD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D92F7E-F7EE-451D-8925-ED9DA78706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5B2441-595D-4915-8707-DAC0DEFEC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8A6E35-B63E-4ABF-9115-3573015C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F84E7E-5F23-4CA3-B247-4075886EB5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7F601C-2E20-4EBC-93BE-86BE2E406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58F4DA-0303-477F-B5C8-EBF800BF30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991076-CB3D-40C3-901E-15578BEC12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7A09B0-7B1F-4FC2-A1A9-C76265BE1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16B383-04D8-4B7E-BF11-715A49A5E7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06932c2aec4ef4" /><Relationship Type="http://schemas.openxmlformats.org/officeDocument/2006/relationships/slideLayout" Target="/ppt/slideLayouts/slideLayout1.xml" Id="R3a31937000764cd3" /><Relationship Type="http://schemas.openxmlformats.org/officeDocument/2006/relationships/slideLayout" Target="/ppt/slideLayouts/slideLayout2.xml" Id="R5e240b926bd94a32" /><Relationship Type="http://schemas.openxmlformats.org/officeDocument/2006/relationships/slideLayout" Target="/ppt/slideLayouts/slideLayout3.xml" Id="Rabb13b10d6a743a9" /><Relationship Type="http://schemas.openxmlformats.org/officeDocument/2006/relationships/slideLayout" Target="/ppt/slideLayouts/slideLayout4.xml" Id="Re237c9cb188b4dca" /><Relationship Type="http://schemas.openxmlformats.org/officeDocument/2006/relationships/slideLayout" Target="/ppt/slideLayouts/slideLayout5.xml" Id="Rcaf56503f3784801" /><Relationship Type="http://schemas.openxmlformats.org/officeDocument/2006/relationships/slideLayout" Target="/ppt/slideLayouts/slideLayout6.xml" Id="R32c362dccabc42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31937000764cd3"/>
    <p:sldLayoutId xmlns:r="http://schemas.openxmlformats.org/officeDocument/2006/relationships" id="2147483650" r:id="R5e240b926bd94a32"/>
    <p:sldLayoutId xmlns:r="http://schemas.openxmlformats.org/officeDocument/2006/relationships" id="2147483651" r:id="Rabb13b10d6a743a9"/>
    <p:sldLayoutId xmlns:r="http://schemas.openxmlformats.org/officeDocument/2006/relationships" id="2147483652" r:id="Re237c9cb188b4dca"/>
    <p:sldLayoutId xmlns:r="http://schemas.openxmlformats.org/officeDocument/2006/relationships" id="2147483653" r:id="Rcaf56503f3784801"/>
    <p:sldLayoutId xmlns:r="http://schemas.openxmlformats.org/officeDocument/2006/relationships" id="2147483654" r:id="R32c362dccabc42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818f81b134180" /><Relationship Type="http://schemas.openxmlformats.org/officeDocument/2006/relationships/notesSlide" Target="/ppt/notesSlides/notesSlide1.xml" Id="R2728cd806659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72d40f9a54ce1" /><Relationship Type="http://schemas.openxmlformats.org/officeDocument/2006/relationships/notesSlide" Target="/ppt/notesSlides/notesSlide2.xml" Id="R0e56e9bdaa234e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88dbce319481d" /><Relationship Type="http://schemas.openxmlformats.org/officeDocument/2006/relationships/notesSlide" Target="/ppt/notesSlides/notesSlide3.xml" Id="R1b7ec70c4611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d33d118664086" /><Relationship Type="http://schemas.openxmlformats.org/officeDocument/2006/relationships/notesSlide" Target="/ppt/notesSlides/notesSlide4.xml" Id="R0087e19d4ea34b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ce218672d4133" /><Relationship Type="http://schemas.openxmlformats.org/officeDocument/2006/relationships/notesSlide" Target="/ppt/notesSlides/notesSlide5.xml" Id="R593eba6f1c6042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701445c03447d" /><Relationship Type="http://schemas.openxmlformats.org/officeDocument/2006/relationships/notesSlide" Target="/ppt/notesSlides/notesSlide6.xml" Id="Ra3830b84f15d4c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d9c99f7324522" /><Relationship Type="http://schemas.openxmlformats.org/officeDocument/2006/relationships/notesSlide" Target="/ppt/notesSlides/notesSlide7.xml" Id="R158f9840173c45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0b24feaab4c67" /><Relationship Type="http://schemas.openxmlformats.org/officeDocument/2006/relationships/notesSlide" Target="/ppt/notesSlides/notesSlide8.xml" Id="R4b50f92036fe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FFD5E-F265-4BE9-A556-0D6E13F4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F3897-27CF-4957-89A3-29F98AD2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E5C9"/>
                </a:solidFill>
                <a:latin typeface="Arial"/>
                <a:ea typeface="Arial"/>
                <a:cs typeface="Arial"/>
              </a:rPr>
              <a:t>AIR QUALITY  /  DATA • MODEL •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10DE2-D9A4-43B7-B916-8700C2EC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762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Air quality,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made more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DC7B-AE26-4F8D-90E9-54E2222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A location-aware monitoring and prediction dashboard for India and beyond.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EDC5E-D58D-4413-ADAF-0051BCDC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524250" cy="43815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0AFF4-A3A6-4A65-ABA4-5330B0BF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E5C9"/>
                </a:solidFill>
                <a:latin typeface="Arial"/>
                <a:ea typeface="Arial"/>
                <a:cs typeface="Arial"/>
              </a:rPr>
              <a:t>AQI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2309E-2674-47D4-8BD7-8E925532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3F13-8BD1-4C69-8A04-ECC7ED8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16954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B3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CECF-5EF5-4ECC-AC51-76550335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146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7C7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C77A"/>
                </a:solidFill>
                <a:latin typeface="Arial"/>
                <a:ea typeface="Arial"/>
                <a:cs typeface="Arial"/>
              </a:rPr>
              <a:t>MODERATE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7FA2B-32B7-4C32-9137-BEA218FA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PM₂.₅   48 µg/m³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A39D0-87FD-4482-85B0-39B5DF7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1DE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ED7"/>
                </a:solidFill>
                <a:latin typeface="Arial"/>
                <a:ea typeface="Arial"/>
                <a:cs typeface="Arial"/>
              </a:rPr>
              <a:t>PM₁₀   82 µg/m³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0E72C-24F1-47D1-B281-56E7C3F3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95825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2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A4DFF-22D4-4AB3-94D1-AE4632B7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LIVE ESTIMATE  •  12:00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C3F75-9C31-45B3-A39F-9499E8B7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45F1-5B43-48CC-93F7-02FEB9B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781DF-00A5-4829-8F90-C64DF9B3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93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ACA57-7F7D-41B8-A7DA-C57FE643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C998B-101C-4CD5-8CCC-8B91370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548622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0F2FE-6666-4D7C-8357-9C0F1546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01  / 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E84A0-B5F1-44EE-BEDD-175467A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Air data is useful only when people can act on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1AF5A-5C2F-4941-BD51-21BE285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People need a clear, local picture—not just a number buried in a station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D7CE-0341-4361-94E0-39B90F8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A0E90-6371-4AD6-A66E-B4068EA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0BBC3-6D9B-47FE-80D5-A333A7C3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5722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1E8F6-6821-456C-9196-FEB1BABC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B661B-A645-4771-A1E0-70E0FA25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20A19-151E-4B47-9B82-F62614DB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Fragmented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E2E59-790E-49A1-9216-EB00220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Historical records, live conditions and forecasts often sit in separate places.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1A691-E458-4B73-85D3-8C61FA3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DDDA7-F58B-4339-A1DB-F59F8C18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Limited station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41456-0FED-42BC-93AC-EC6E1C9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A nearby official monitor may not be available for every location a user asks about.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29FA9-3800-4FED-86AC-5C6076F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4B700-6E1E-48C4-99F0-2B823D1C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Hard-to-interpret readings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5DC5E-4869-4BB1-9DEC-CFB4B69B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Pollutant values need context: an AQI band, trend and understandable explanation.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770B8-9220-4B33-B6B4-661036C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40576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102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DABA3-EEB0-4459-BBAF-F3543D99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THE USER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B5A98-E8C7-4DB5-8DAE-2721C0E7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3276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“What is the air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 where I am—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what might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happen next?”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7935C-0E71-483A-81DB-98113300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0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A practical tool should connect place, pollutants, AQI and time.</a:t>
            </a:r>
          </a:p>
        </p:txBody>
      </p:sp>
    </p:spTree>
    <p:extLst>
      <p:ext uri="{BB962C8B-B14F-4D97-AF65-F5344CB8AC3E}">
        <p14:creationId xmlns:p14="http://schemas.microsoft.com/office/powerpoint/2010/main" val="1120798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FA901-A586-454C-8B3F-ED6C97E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02  /  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3DC01-01A0-4C9B-B3CD-997451D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dashboard, from place to outlook.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F7125-A66B-49CF-8337-C7D21F9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Search a location, translate pollutant estimates into CPCB-style AQI, then explore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CF95E-D2AB-47F3-8EAC-ACCF855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A918F-F2D5-4CE6-AAC9-0752E352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3C7E6-7646-42F9-BECC-E2548F44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476500" cy="2571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B1B5B-6AD5-4F84-BE9F-9DF9F167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E8A46-A9EC-4CDE-A5CC-CCC3CFB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a 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A60EE-13F9-43C4-A99C-A0506A6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Search worldwide using place-name geocoding.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8205A-A06F-491E-94C8-F092343E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24250"/>
            <a:ext cx="247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3B810-3D05-49D2-89C9-801363B2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8400"/>
            <a:ext cx="2476500" cy="2571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894E3-6562-4597-B63F-BB17101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3A626-D2C8-42A6-89C5-3406E4B0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 the 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B6016-DF81-49AA-AE9E-4774ACC4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81425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View six pollutant estimates, weather and a model AQI.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EEB63-D152-475B-9FAA-B62D2C9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524250"/>
            <a:ext cx="247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D0D68-C16E-4B05-86A7-BB74C9AB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2476500" cy="2571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68F38-1C71-4B2C-A65B-C982C21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E5C5D-7936-497D-8E74-0278AFE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the trend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BEE75-5CA6-4383-94F3-E24EC8E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81425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Compare recent history with a multi-day AQI outlook.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3DD8B-1FBF-4F4D-BF07-7BA0D703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24250"/>
            <a:ext cx="247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4C735-A6B8-4BBA-8D8A-477DE524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38400"/>
            <a:ext cx="2476500" cy="25717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6F6B6-B025-42C9-B446-0345EDB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D246F-7253-4E16-AC2F-9F55C35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956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C439D-9ABF-4D47-B2F1-5A99E14D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81425"/>
            <a:ext cx="2019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Use maps, seasonal analysis and an optional assistant.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A07EA-5593-4BB3-AC1A-1FD2C9DA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Designed to support exploration—not replace official monitoring or health advice.</a:t>
            </a:r>
          </a:p>
        </p:txBody>
      </p:sp>
    </p:spTree>
    <p:extLst>
      <p:ext uri="{BB962C8B-B14F-4D97-AF65-F5344CB8AC3E}">
        <p14:creationId xmlns:p14="http://schemas.microsoft.com/office/powerpoint/2010/main" val="336055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FE80F4-8D89-493C-BE21-A47772D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03  /  DATA +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D1AA2-4D27-4C45-8644-13EBB26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A trained model turns six pollutants into AQI.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13369-1FEB-43BE-AAD7-69BC89C2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Training uses pollutant-labelled historical station data; newer AQI-only history is for exploration.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53C00-B675-4465-A3C3-90E10559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965FC-9F5C-4B4E-AD0B-B1E25068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EE8D3-5742-4043-9A83-8C8AE9A0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38150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55F23-F124-4B7A-887D-2803A523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MODEL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36C41-AE5E-47E5-B83B-7697508A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714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8EA1D-5075-463B-8F32-2DA0DEE8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PM₂.₅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E44B7-F632-4D53-A016-5F868E2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fine particles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5497A-4C93-4995-A625-4C46A155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714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EE78B-D4F2-4795-A1FF-3A947C11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PM₁₀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945AD-F6E2-4644-8C04-ACC6167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coarse particles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D93C6-33CB-4527-85C3-6B90729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714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498CB-C06D-4D5B-B998-6F1E68B3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NO₂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5F8A2-63F0-4E2C-9CDB-2E639F7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nitrogen dioxide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3D993-16DC-4520-B57F-3E846542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95700"/>
            <a:ext cx="1714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3C10B-4E40-4372-A7C3-79DAEDF5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719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SO₂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17540-D9C4-438A-8C56-56DEB35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57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sulfur dioxide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5918A-E626-40DC-A553-635CB28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714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97C21-ACC1-40D3-97F1-19E51553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O₃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8BC0C-BA71-4813-9295-63FAFCD2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ozone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A0113-5510-468B-98EF-90097C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33900"/>
            <a:ext cx="1714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827C3-DA98-4F87-A425-DB12E9C2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9F699-BD9F-487D-A21E-7D875F91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958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carbon monoxide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9CD89-7CCE-4DA2-BB22-596B3CA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52650"/>
            <a:ext cx="630555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10251F"/>
          </a:solidFill>
          <a:ln xmlns:a="http://schemas.openxmlformats.org/drawingml/2006/main" w="9525">
            <a:solidFill>
              <a:srgbClr val="1025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89E32-8DE0-47C1-AFB7-AB03342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003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RANDOM FOREST  /  CHRONOLOGICAL HOLDOUT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837F8-9E39-4129-802A-673AF16D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99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19.87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6FE0DC-AF5E-4B2D-B46A-99CD6A4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623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MAE • AQI points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1CF88-857B-4B11-AFD2-E093705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99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0.859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22EC5-1B45-425C-ABA0-7B311DC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R²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2B049-642B-4D7A-9F7C-B0910402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73.4%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893147-E913-4534-A105-F403819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CPCB category accuracy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602C82-E5B7-4706-84D1-459F9092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767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2D949-70CD-4EFC-B54F-4DAB29B7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9E5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E5C9"/>
                </a:solidFill>
                <a:latin typeface="Arial"/>
                <a:ea typeface="Arial"/>
                <a:cs typeface="Arial"/>
              </a:rPr>
              <a:t>TRAINING BASE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D1296B-F59A-483F-8539-9E8B7F4B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625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CPCB  •  26 cities  •  2015–2020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7A71ED-A727-442E-B69B-2434FE8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625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India AQI history: 292 places (2022–2025), AQI-only; not used to train the pollutant model.</a:t>
            </a:r>
          </a:p>
        </p:txBody>
      </p:sp>
    </p:spTree>
    <p:extLst>
      <p:ext uri="{BB962C8B-B14F-4D97-AF65-F5344CB8AC3E}">
        <p14:creationId xmlns:p14="http://schemas.microsoft.com/office/powerpoint/2010/main" val="2116395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551241-7CA0-4917-B07C-348EBA50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04  / 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1EB97-6884-4ADF-8767-4844BCB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A lightweight Python stack, connected to live APIs.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B4D86-F864-4780-9F21-2202EB1D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Each piece has a focused role in the dashboard and data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FBC81-2307-4AE6-B108-5FBB1AE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EC152-8A20-4D76-9AD9-F133EAB6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2D7FE-DA3F-4595-A22D-A8BE43EB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14A9B-5A13-4547-BFAE-8A7A3136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C6C3D-EC41-44D8-8893-7BB90EC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207C6-1E6D-49D4-991C-C33A617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Core application and data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5C4D9-D71A-4923-A0C1-7EFBDDC8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7D46D-EFB6-4F7F-A49B-D4D65A10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3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28876-8EEF-48C1-B3E8-A58A9DBC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93A1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C08EB-9E55-4F6C-AFAD-7731D9F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Interactive dashboard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5CC92-037C-48FE-A25D-DF543FF5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BFD71-D2B6-4EA1-9287-8F35A13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A4187-63A2-40BA-A938-32E4B729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A443"/>
                </a:solidFill>
                <a:latin typeface="Arial"/>
                <a:ea typeface="Arial"/>
                <a:cs typeface="Arial"/>
              </a:rPr>
              <a:t>PANDAS +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BF1AA-7D1B-4B32-84F5-0823039A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Data cleaning, features and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35ED9-ED89-464F-ACF7-9A2D78C2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D1991-31CE-4DFA-A4F8-06A62E3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8AF02-9734-49F7-80A7-655BCCF6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C59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3C07A-B291-4743-92CD-FC86518E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Random Forest AQI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168C7-378F-48FA-B882-14FD53E6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0A2F7-3393-444E-AE00-AB70CB23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2A63D-7699-426C-A23B-470FF4F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OPEN-METEO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59A25-E660-4074-B02F-3DF02DE3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Geocoding, air quality and weather APIs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15721-EE82-441B-B1EC-E53B5C6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6715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D8241-F4BA-406A-9DE2-21364F75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671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3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E881A-E563-46E3-A554-FE8D50B3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4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C93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C93A1"/>
                </a:solidFill>
                <a:latin typeface="Arial"/>
                <a:ea typeface="Arial"/>
                <a:cs typeface="Arial"/>
              </a:rPr>
              <a:t>PLOTLY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E0D71-F490-46DA-8C38-A4BFC3AA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Interactive charts and map views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B4E49D-2C83-42EE-B005-C2B37F02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00F271-327E-4C7C-BBCA-437E0542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52D79-D3B6-448F-B4AF-1623B18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9A4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A443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F9F15-C429-4DEF-8D04-DD4F51A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577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718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Local history, live snapshots and model runs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84791-85DD-4E32-B6D5-0DC0A5B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25146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55DE3A-86F4-4E11-AAE8-7D0DA85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671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763202-CC9E-4619-9767-A097B350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96C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6C59"/>
                </a:solidFill>
                <a:latin typeface="Arial"/>
                <a:ea typeface="Arial"/>
                <a:cs typeface="Arial"/>
              </a:rPr>
              <a:t>ANTHROPIC SDK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3D04F1-1DB5-430B-A620-3F4F535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577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Optional tool-using AQI assistant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E920E-2EE3-46EF-9964-63895CF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Local database: Python’s built-in sqlite3 • no separate database driver required.</a:t>
            </a:r>
          </a:p>
        </p:txBody>
      </p:sp>
    </p:spTree>
    <p:extLst>
      <p:ext uri="{BB962C8B-B14F-4D97-AF65-F5344CB8AC3E}">
        <p14:creationId xmlns:p14="http://schemas.microsoft.com/office/powerpoint/2010/main" val="513135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011EB-06C8-4273-B800-32C5B8E7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05  /  WHAT USERS CAN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821B-22CE-40AB-BE11-C977F23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Six views connect live conditions with history.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0FF75-DB3D-4CE2-8A45-804245FE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A practical set of tools for looking up, comparing and understanding air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C2F3A-6FD3-47E8-A929-156B2660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2107D-4F83-436B-8EA8-59F80F1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093E7-ED0E-4A40-98C7-172A786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71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60A8D-B3FA-457A-B1E2-764C171B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9501B-D126-4910-A262-86D3317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+ FORECAST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A2C6E-D098-4524-9918-204C92C1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Worldwide search • hourly estimates • AQI outlook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5468E-7D76-4A04-8B55-FA75BD10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3371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AA3D4-20B0-4C9D-A5EF-254E3D14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0BF59-B88A-40CD-80DA-9AF11F34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CROP-BURNING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2C389-28B1-411B-B91C-8DC33D3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Seasonal and state-level views for North India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A4877-BE93-4B20-AFA5-6625C22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3371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562F6-2843-49D2-BDE0-16DBD10C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189E0-9939-493B-8B77-89733A65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0B6BD-1CF6-457F-8B3A-F21FDEAD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Daily AQI history across 292 Indian places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DFCCB-0F78-47FC-9C20-1B7844E8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71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77483-71ED-48CF-8609-6206CD12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1DC0C-FBC1-4FD4-8922-B06E400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INDIA MAP + 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5C4E3-3AB8-4DBF-A21B-5E2FE33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Explore latest historical values; compare places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DBF96-3DF1-4D3B-8353-46084157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371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107D2-B389-49B9-ADEB-FD8CC9BF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25B84-AAC5-4C96-B3D8-B58E77FE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SOURCES +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4BC2C-9D44-44BD-A042-31E5DF27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See provenance, freshness and model 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F0943-6237-48B9-B632-3403E125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3718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42DFD-012C-410D-976D-C3A5AA1A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E7BB5A-F7B7-4404-B5C8-5A2EB800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AQI ASSISTANT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B195F-6772-4F6B-B6DB-FFBAEBEC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Ask questions with project tools; API key required</a:t>
            </a:r>
          </a:p>
        </p:txBody>
      </p:sp>
    </p:spTree>
    <p:extLst>
      <p:ext uri="{BB962C8B-B14F-4D97-AF65-F5344CB8AC3E}">
        <p14:creationId xmlns:p14="http://schemas.microsoft.com/office/powerpoint/2010/main" val="1853072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56F781-587C-47D1-84EF-6794729F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06  /  HOW DATA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40C7-6812-40DD-86F3-BA1A3EE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A live lookup becomes a traceable estimate.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8291-5EB6-487B-9760-B901D4F1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The app stores useful snapshots during use; it does not collect on a background schedule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79C43-D24E-4956-9533-BCE19DA1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F65AD-05F8-4C9F-947A-5FC5872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56D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2FE2B-177A-496C-A057-5325C3F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000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7AAA0-DF03-4418-B335-3B80B39C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09C65-5165-4C6E-BD27-4408141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8A5A3-36D3-4A25-B2B0-08FE4640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231AB-61DB-48D6-9306-946D8B00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Place name → coordinates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90D19-1AB1-43F2-B56C-37D0CB76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33032-AEDE-49D1-BDDD-76856148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2000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7A965-AF82-4EB4-B9D3-1DA8FA9C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FE4CA-B451-4C6E-B4FB-EECB227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8D145-4791-4E61-BB2F-B188FBE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3E2EA-E6CE-4A4B-BC3E-2F7345F2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Pollutants + weather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9198D-8D05-4F52-882B-6E4ACD3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3847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CF7A2-CB4D-45FF-8CFB-51CDA92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000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3630E-EA0F-43CD-AD04-5796A83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9C470-0204-4066-ABA5-09BFD38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A3DEC-FC94-4008-A20F-7A27026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0AF76-AD22-4099-B60B-BD85AD9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Six features → AQI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E9D7C-E80F-4E7E-BF39-B2C601F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3847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80092-16DD-4858-9300-97F8A24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00300"/>
            <a:ext cx="2000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A5EC1-3B15-4628-A1D8-2675A0E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EFA66-2B5A-43AB-960E-A666A01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908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9B7FE-07EA-45DD-A82A-55E390B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9AA29-AC06-43B4-8E31-0A4DD527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AQI, category + outlook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8174B-4210-40C3-A8EF-F4AEE056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38475"/>
            <a:ext cx="1905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59BE59-E74B-4557-BD88-5586E9C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2000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25BA1B-5994-4B50-93BE-49C71CB5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3D930-7854-42E4-BAF5-7767D2BF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98F0D-DC23-4D81-98C0-6D925D37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86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D70A3-31EB-4D6B-930C-BFBEF253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290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SQLite snapshots + history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EDC07-159B-435A-9738-99B347E7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8EEE7"/>
          </a:solidFill>
          <a:ln xmlns:a="http://schemas.openxmlformats.org/drawingml/2006/main" w="9525">
            <a:solidFill>
              <a:srgbClr val="D9E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52EB9-BF55-4B6C-97CC-D81E865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DATA INTEGRITY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95D208-DF34-40C3-BA47-F7E80342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Predicted AQI is stored for analysis, but is explicitly excluded from model training.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5CB539-20DB-4C7F-986F-C25B8B8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56D"/>
                </a:solidFill>
                <a:latin typeface="Arial"/>
                <a:ea typeface="Arial"/>
                <a:cs typeface="Arial"/>
              </a:rPr>
              <a:t>Only verified pollutant measurements paired with valid AQI labels should be added as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891393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EED9A-DA44-4E39-AD5E-12B2989B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07  /  RESPONSIBLE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E6FCE-C8CE-47C0-8A48-FD40760F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42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 transparent about confidence—and close the data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D5F70-1004-4B97-93F2-E42150A4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8C9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9C0"/>
                </a:solidFill>
                <a:latin typeface="Arial"/>
                <a:ea typeface="Arial"/>
                <a:cs typeface="Arial"/>
              </a:rPr>
              <a:t>The foundation is in place; continuous, verified data is the next major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AEBA7-6E41-43DB-BA1A-F9B259F3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AIR QUALITY • 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D6866-F336-4E17-BF64-DD853354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BD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DB4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1800E-F8FA-49F3-95C8-1C9775D7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048250" cy="3562350"/>
          </a:xfrm>
          <a:prstGeom xmlns:a="http://schemas.openxmlformats.org/drawingml/2006/main" prst="roundRect">
            <a:avLst>
              <a:gd name="adj" fmla="val 4813"/>
            </a:avLst>
          </a:prstGeom>
          <a:solidFill xmlns:a="http://schemas.openxmlformats.org/drawingml/2006/main">
            <a:srgbClr val="1B382F"/>
          </a:solidFill>
          <a:ln xmlns:a="http://schemas.openxmlformats.org/drawingml/2006/main" w="9525">
            <a:solidFill>
              <a:srgbClr val="365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1BBE1-5489-4B3B-8ADE-647DCEB1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D8F2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26A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EE0BF-A526-4B52-AE3A-9B0D2020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2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87544-4BD1-41CE-8332-5B651387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Modeled, not a monitor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48A8E-F473-460B-B9E8-4FFDDA43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Open-Meteo values are atmospheric-model estimates; coverage and local precision vary.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97DCF-8B6D-46D5-BADF-7A89E3E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7B786-2A25-447C-9D51-24895292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and live inputs differ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9DCC1-55D6-4DE9-BC80-466DE56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Historical daily station labels and hourly live inputs are not identical conditions.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64A25-5605-4484-9C8C-A1F22BD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FD5D3-87BD-409B-A61E-70409C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medical advice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E865F-1E8E-411D-A156-4F81FE2D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Forecasts are uncertain; users should consult official sources for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51BA0-BD4B-42A6-8AD5-888C2FFB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5581650" cy="3562350"/>
          </a:xfrm>
          <a:prstGeom xmlns:a="http://schemas.openxmlformats.org/drawingml/2006/main" prst="roundRect">
            <a:avLst>
              <a:gd name="adj" fmla="val 4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3C87B-3341-4969-AB35-1724B6A3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38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NEXT MILESTONES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D2DCA-0EA6-4125-B9D2-A9E6759A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875BD-AFCA-40F9-9D4F-05A55EAC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Add a scheduled background collector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04B6A-A214-4183-8566-0FFF0E09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2649C-FACE-4ADE-9F1B-48CAB1C6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24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B6062-EA77-41C3-BACD-29AA47C8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Move storage to managed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38DA5-446E-49FB-9CD3-7FA550B4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11BA0-AD44-4A9B-855F-C7CD142F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3CBC6-42DE-4150-9F9D-9587745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Ingest verified monitor + AQI labels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F4076-C9D6-4964-81CD-C416E3F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3671D-7630-4616-B835-7821EB8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5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16B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5DB10-833C-47BC-A1A3-413E9365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429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921"/>
                </a:solidFill>
                <a:latin typeface="Arial"/>
                <a:ea typeface="Arial"/>
                <a:cs typeface="Arial"/>
              </a:rPr>
              <a:t>Retrain and evaluate by city and season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C9193-9891-4CDB-814E-5A43EAD6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5D3C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D3CD"/>
                </a:solidFill>
                <a:latin typeface="Arial"/>
                <a:ea typeface="Arial"/>
                <a:cs typeface="Arial"/>
              </a:rPr>
              <a:t>Goal: reliable time-series coverage without treating model outputs as ground truth.</a:t>
            </a:r>
          </a:p>
        </p:txBody>
      </p:sp>
    </p:spTree>
    <p:extLst>
      <p:ext uri="{BB962C8B-B14F-4D97-AF65-F5344CB8AC3E}">
        <p14:creationId xmlns:p14="http://schemas.microsoft.com/office/powerpoint/2010/main" val="36237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2026-10-19T17:53:16.2620000Z</dcterms:created>
  <dcterms:modified xsi:type="dcterms:W3CDTF">2026-10-19T17:53:16.2620000Z</dcterms:modified>
</coreProperties>
</file>